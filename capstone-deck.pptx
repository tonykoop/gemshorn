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z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svgz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Gemshorn Build Methods And Slip-Cast Family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Musical instrument documentation capstone</a:t>
            </a:r>
          </a:p>
          <a:p>
            <a:pPr lvl="0"/>
            <a:r>
              <a:rPr/>
              <a:t>Build packet: gemshorn</a:t>
            </a:r>
          </a:p>
          <a:p>
            <a:pPr lvl="0"/>
            <a:r>
              <a:rPr/>
              <a:t>Generated: 2026-05-06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Generated: 2026-05-02 v4 refresh: 2026-05-06</a:t>
            </a:r>
          </a:p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Read design.md before committing to dimensions or sourcing decisions.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working model is a Helmholtz/vessel-flute model, not an open-open flute model:</a:t>
            </a:r>
          </a:p>
          <a:p>
            <a:pPr lvl="0" indent="0">
              <a:buNone/>
            </a:pPr>
            <a:r>
              <a:rPr>
                <a:latin typeface="Courier"/>
              </a:rPr>
              <a:t>f = c/(2*pi) * sqrt(G_total / V)
G_total = sum(A_i / L_eff_i)
L_eff circular hole approx wall + 0.85*r</a:t>
            </a:r>
          </a:p>
          <a:p>
            <a:pPr lvl="0" indent="0">
              <a:buNone/>
            </a:pPr>
            <a:r>
              <a:rPr>
                <a:latin typeface="Courier"/>
              </a:rPr>
              <a:t>r = (0.85*G + sqrt((0.85*G)^2 + 4*pi*G*wall)) / (2*pi)</a:t>
            </a:r>
          </a:p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Governing equations extracted verbatim from design.md. Apply empirical corrections (NAF K2, scale offsets) only where the model permits — see references/acoustic-models.md.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Hardware Alignment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 / Fixture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Applies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Release Check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Horn blank fitting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Fine saw, scraper, drill press, tapered reamers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Natural horn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Tip remains closed; fipple block seats without leaks.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Mold master shaping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3D print, CNC tooling board, or sealed master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Slip-cast ceramic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Master is scaled by measured shrinkage and releases from plaster.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Plaster mold making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Two-part mold box, registration keys, pour mouth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Slip-cast ceramic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Mold halves register and cast releases at leather hard.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Split-wood CNC 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1/4 in upcut, 1/4 in ball end, 1/8 in ball end, dowel-pin fixture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CNC wood body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Halves register, cavity leak test passes before shaping.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Hole tuning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Pin gauges, drill bits, tapered reamers, wax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methods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Holes start undersize and tune low to high.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Tuner, thermometer, water-fill volume setup, calipers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methods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validation.csv</a:t>
                      </a:r>
                      <a:r>
                        <a:rPr/>
                        <a:t> records measured values, cents error, and action.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Identifies which shop pipeline(s) this instrument lives in: Bambu+kiln slip-cast, 40W laser flat-pack, CNC+lathe, segmented turning, drum-skin work, or hybrid combinations.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Use This Packet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Start with design.md for intent and assumptions.</a:t>
            </a:r>
          </a:p>
          <a:p>
            <a:pPr lvl="0"/>
            <a:r>
              <a:rPr/>
              <a:t>Use bom.csv, sourcing.csv, and cut-list.csv before buying or cutting.</a:t>
            </a:r>
          </a:p>
          <a:p>
            <a:pPr lvl="0"/>
            <a:r>
              <a:rPr/>
              <a:t>Use drawing-brief.md and CAD/CNC folders before machining.</a:t>
            </a:r>
          </a:p>
          <a:p>
            <a:pPr lvl="0"/>
            <a:r>
              <a:rPr/>
              <a:t>Print the packet for shopping, shop work, and validation.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design.md: Project intent, catalog metadata, assumptions, and validation plan.</a:t>
            </a:r>
          </a:p>
          <a:p>
            <a:pPr lvl="0"/>
            <a:r>
              <a:rPr/>
              <a:t>bom.csv: Starter bill of materials with part categories, quantities, drawing refs, and notes.</a:t>
            </a:r>
          </a:p>
          <a:p>
            <a:pPr lvl="0"/>
            <a:r>
              <a:rPr/>
              <a:t>sourcing.csv: Supplier/search tracker with specs, price/date fields, lead time, substitutes, and risks.</a:t>
            </a:r>
          </a:p>
          <a:p>
            <a:pPr lvl="0"/>
            <a:r>
              <a:rPr/>
              <a:t>cut-list.csv: Rough/final stock sizes, material, grain/orientation, operations, yield, and offcuts.</a:t>
            </a:r>
          </a:p>
          <a:p>
            <a:pPr lvl="0"/>
            <a:r>
              <a:rPr/>
              <a:t>drawing-brief.md: Manufacturing drawing and technical product sketch brief.</a:t>
            </a:r>
          </a:p>
          <a:p>
            <a:pPr lvl="0"/>
            <a:r>
              <a:rPr/>
              <a:t>assembly-manual.md: Shop-facing sequence, tools, fixtures, safety, tuning, finishing, and maintenance notes.</a:t>
            </a:r>
          </a:p>
          <a:p>
            <a:pPr lvl="0"/>
            <a:r>
              <a:rPr/>
              <a:t>validation.csv: Target/measured values, tolerance, environment, result, and tuning/build action log.</a:t>
            </a:r>
          </a:p>
          <a:p>
            <a:pPr lvl="0"/>
            <a:r>
              <a:rPr/>
              <a:t>supplier-rfq.md: Supplier email/request-for-quote starter.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Family Spec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  <a:gridCol w="36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freq_hz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fired_centerline_length_in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master_centerline_length_in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fired_wide_od_in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master_wide_od_in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fired_tip_od_in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fired_wall_in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fired_wide_id_in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fired_tip_id_in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fired_internal_volume_in3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fired_internal_volume_ml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window_width_in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window_height_in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windway_height_in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labium_setback_in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playing_support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GEM-SC-F3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Bass 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174.6141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2.9966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 slip-cast consort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27.7187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31.4985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4.6448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5.2781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1.0788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4.1648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0.5988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146.5677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2401.8139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1.2885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0.4195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0.0589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1.2885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bench, lap, or simple sling; large horn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GEM-SC-C4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Tenor 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261.6256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 slip-cast consort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21.0227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3.5227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2.692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39.6387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649.5624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two-hand standing or seated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GEM-SC-F4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Alto 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349.2282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1.4983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 slip-cast consort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13.8593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15.7493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2.3224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2.6391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0.5394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0.1691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1.9842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15.8811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260.245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0.6443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0.2098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0.6443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comfortable hand instrument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GEM-SC-C5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Soprano 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523.2511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 slip-cast consort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10.5114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1.7614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4.3665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71.5536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pilot size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GEM-SC-F5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Sopranino 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698.4565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0.7492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 slip-cast consort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6.9297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7.8746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1.1612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1.3195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0.2697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0.9412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1.6964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27.799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0.3221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0.1049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0.3221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 hand instrument; hole accuracy is critical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GEM-HIST-G4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Historical Clay/Horn Archetype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391.9954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1.3348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historically informed 4 front plus thumb study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12.3473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14.031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2.3511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0.4805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0.1568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1.7553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0.1669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10.9964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180.1994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0.1869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 hand instrument; exact historical pitch is not known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notes:</a:t>
            </a:r>
            <a:r>
              <a:rPr/>
              <a:t> Sizes scale via the master scale factor; tuning targets are first-order Helmholtz/cantilever predictions to be empirically corrected per prototype.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Design and assumptions</a:t>
            </a:r>
          </a:p>
          <a:p>
            <a:pPr lvl="0"/>
            <a:r>
              <a:rPr/>
              <a:t>Source materials and hardware</a:t>
            </a:r>
          </a:p>
          <a:p>
            <a:pPr lvl="0"/>
            <a:r>
              <a:rPr/>
              <a:t>Prepare stock, fixtures, and CNC/laser/lathe setup</a:t>
            </a:r>
          </a:p>
          <a:p>
            <a:pPr lvl="0"/>
            <a:r>
              <a:rPr/>
              <a:t>Assemble, tune, finish, and validate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Sourcing And 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BOM gives part categories and drawing references.</a:t>
            </a:r>
          </a:p>
          <a:p>
            <a:pPr lvl="0"/>
            <a:r>
              <a:rPr/>
              <a:t>Sourcing tracks search terms, supplier candidates, price/date, lead time, substitutions.</a:t>
            </a:r>
          </a:p>
          <a:p>
            <a:pPr lvl="0"/>
            <a:r>
              <a:rPr/>
              <a:t>Visual BOM brief turns the parts list into a presentation-ready image board.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Shop Packet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Cut list for lumber/sheet/blank planning.</a:t>
            </a:r>
          </a:p>
          <a:p>
            <a:pPr lvl="0"/>
            <a:r>
              <a:rPr/>
              <a:t>Assembly manual for away-from-keyboard work.</a:t>
            </a:r>
          </a:p>
          <a:p>
            <a:pPr lvl="0"/>
            <a:r>
              <a:rPr/>
              <a:t>Validation sheet for measured dimensions, tuning, pass/fail checks.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Drawings, CAD, CNC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drawing-brief.md defines required views, dimensions, datums, sketch intent.</a:t>
            </a:r>
          </a:p>
          <a:p>
            <a:pPr lvl="0"/>
            <a:r>
              <a:rPr/>
              <a:t>cad/ holds models and design tables.</a:t>
            </a:r>
          </a:p>
          <a:p>
            <a:pPr lvl="0"/>
            <a:r>
              <a:rPr/>
              <a:t>cnc/ holds CAM, toolpaths, setup sheets, dry-run notes.</a:t>
            </a:r>
          </a:p>
          <a:p>
            <a:pPr lvl="0"/>
            <a:r>
              <a:rPr/>
              <a:t>drawings/ holds PDFs, SVGs, DXFs, drawing exports.</a:t>
            </a:r>
          </a:p>
        </p:txBody>
      </p:sp>
      <p:pic>
        <p:nvPicPr>
          <p:cNvPr descr="drawings/gemshorn-body-section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16000"/>
            <a:ext cx="51054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drawing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drawing drawing drawing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Images And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Add hero render/photo, visual BOM, shop screenshots, drawing previews, validation photos in images/.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A4 = 440 Hz reference check.</a:t>
            </a:r>
          </a:p>
          <a:p>
            <a:pPr lvl="0"/>
            <a:r>
              <a:rPr/>
              <a:t>Tuning targets logged in validation.csv.</a:t>
            </a:r>
          </a:p>
          <a:p>
            <a:pPr lvl="0"/>
            <a:r>
              <a:rPr/>
              <a:t>Critical dimensions verified against design sheet and CAD.</a:t>
            </a:r>
          </a:p>
          <a:p>
            <a:pPr lvl="0"/>
            <a:r>
              <a:rPr/>
              <a:t>Photos and revision notes after each major step.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Risks /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TBDs in design sheet and BOM.</a:t>
            </a:r>
          </a:p>
          <a:p>
            <a:pPr lvl="0"/>
            <a:r>
              <a:rPr/>
              <a:t>Supplier price/availability not yet verified.</a:t>
            </a:r>
          </a:p>
          <a:p>
            <a:pPr lvl="0"/>
            <a:r>
              <a:rPr/>
              <a:t>Generated images marked as concept placeholders.</a:t>
            </a:r>
          </a:p>
          <a:p>
            <a:pPr lvl="0"/>
            <a:r>
              <a:rPr/>
              <a:t>Empirical corrections await measured prototype data.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Replace TBDs with measured/source-backed values.</a:t>
            </a:r>
          </a:p>
          <a:p>
            <a:pPr lvl="0"/>
            <a:r>
              <a:rPr/>
              <a:t>Verify live supplier price and availability before buying.</a:t>
            </a:r>
          </a:p>
          <a:p>
            <a:pPr lvl="0"/>
            <a:r>
              <a:rPr/>
              <a:t>Export final drawings and visual BOM images.</a:t>
            </a:r>
          </a:p>
          <a:p>
            <a:pPr lvl="0"/>
            <a:r>
              <a:rPr/>
              <a:t>Regenerate this deck and print packet after final edits.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2026-05-06T16:16:37Z</dcterms:created>
  <dcterms:modified xsi:type="dcterms:W3CDTF">2026-05-06T16:16:37Z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